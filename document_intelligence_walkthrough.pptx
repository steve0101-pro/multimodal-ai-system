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E7F2EE"/>
                </a:solidFill>
                <a:latin typeface="Aptos"/>
              </a:defRPr>
            </a:pPr>
            <a:r>
              <a:t>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6809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From uploaded evidence</a:t>
            </a:r>
          </a:p>
          <a:p>
            <a:pPr>
              <a:spcAft>
                <a:spcPts val="700"/>
              </a:spcAft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to actionable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8686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7F2EE"/>
                </a:solidFill>
                <a:latin typeface="Aptos"/>
              </a:defRPr>
            </a:pPr>
            <a:r>
              <a:t>Technical walkthrough | FastAPI + Streamlit + AI services + Docker Hub + EC2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2834640" cy="73152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A practical guide to the codebase and deployment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0807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E7F2EE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PRODUCT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What the system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29000" cy="425196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640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DC684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377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60604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7F2EE"/>
                </a:solidFill>
                <a:latin typeface="Aptos"/>
              </a:defRPr>
            </a:pPr>
            <a:r>
              <a:t>OCR and VLM paths turn invoices and images into searchable text and structured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251960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640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E0AB4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063240"/>
            <a:ext cx="26517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Voice questions can be combined with an optional image and conversation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429000" cy="4251960"/>
          </a:xfrm>
          <a:prstGeom prst="round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965960"/>
            <a:ext cx="640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02A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68880"/>
            <a:ext cx="2468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02A2A"/>
                </a:solidFill>
                <a:latin typeface="Aptos Display"/>
              </a:defRPr>
            </a:pPr>
            <a:r>
              <a:t>Respond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063240"/>
            <a:ext cx="26517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A2A"/>
                </a:solidFill>
                <a:latin typeface="Aptos"/>
              </a:defRPr>
            </a:pPr>
            <a:r>
              <a:t>The pipeline returns a transcript, an answer, and generated audio while persisting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SYSTEM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828800" cy="100584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50591"/>
            <a:ext cx="1554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194560"/>
            <a:ext cx="1828800" cy="1005840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450591"/>
            <a:ext cx="1554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</a:p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UI :8501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194560"/>
            <a:ext cx="1828800" cy="1005840"/>
          </a:xfrm>
          <a:prstGeom prst="round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450591"/>
            <a:ext cx="1554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FastAPI</a:t>
            </a:r>
          </a:p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API :8000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1828800" cy="1005840"/>
          </a:xfrm>
          <a:prstGeom prst="roundRect">
            <a:avLst/>
          </a:prstGeom>
          <a:solidFill>
            <a:srgbClr val="E0AB44"/>
          </a:solidFill>
          <a:ln>
            <a:solidFill>
              <a:srgbClr val="E0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73352"/>
            <a:ext cx="1554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02A2A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017520"/>
            <a:ext cx="1828800" cy="100584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273552"/>
            <a:ext cx="1554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Data +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670048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2670048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1828800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3429000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22402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36461"/>
                </a:solidFill>
                <a:latin typeface="Aptos"/>
              </a:defRPr>
            </a:pPr>
            <a:r>
              <a:t>HTTP + bearer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240280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36461"/>
                </a:solidFill>
                <a:latin typeface="Aptos"/>
              </a:defRPr>
            </a:pPr>
            <a:r>
              <a:t>authenticated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234440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36461"/>
                </a:solidFill>
                <a:latin typeface="Aptos"/>
              </a:defRPr>
            </a:pPr>
            <a:r>
              <a:t>OCR / VLM / STT / TTS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36461"/>
                </a:solidFill>
                <a:latin typeface="Aptos"/>
              </a:defRPr>
            </a:pPr>
            <a:r>
              <a:t>PostgreSQL, Redis, 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533"/>
                </a:solidFill>
                <a:latin typeface="Aptos"/>
              </a:defRPr>
            </a:pPr>
            <a:r>
              <a:t>The UI is deliberately thin: it handles user interaction and forwards files to the API. Business logic stays in the backend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CODE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How the repository is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394960" cy="448056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E7F2EE"/>
                </a:solidFill>
                <a:latin typeface="Aptos Display"/>
              </a:defRPr>
            </a:pPr>
            <a:r>
              <a:t>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48056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main.py                 application + CORS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config.py               environment settings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database.py             async SQLAlchemy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schema.py               request/response models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models.py               persistence models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api/                    HTTP route modules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dependencies/auth.py    JWT dependency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services/               OCR, VLM, STT, TTS, storage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tests/                  provider-mocked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74920" cy="4480560"/>
          </a:xfrm>
          <a:prstGeom prst="roundRect">
            <a:avLst/>
          </a:prstGeom>
          <a:solidFill>
            <a:srgbClr val="E7F2EE"/>
          </a:solidFill>
          <a:ln>
            <a:solidFill>
              <a:srgbClr val="E7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74519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02A2A"/>
                </a:solidFill>
                <a:latin typeface="Aptos Display"/>
              </a:defRPr>
            </a:pPr>
            <a:r>
              <a:t>Delivery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11480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streamlit_app.py       browser-facing workspace</a:t>
            </a:r>
          </a:p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Dockerfile.api          FastAPI image</a:t>
            </a:r>
          </a:p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Dockerfile.ui           Streamlit image</a:t>
            </a:r>
          </a:p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docker-compose.yml      pull-only runtime</a:t>
            </a:r>
          </a:p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.github/workflows/      Docker Hub + EC2 CI/CD</a:t>
            </a:r>
          </a:p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README.md               setup and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SECURITY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Authentication and request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A2A"/>
                </a:solidFill>
                <a:latin typeface="Aptos"/>
              </a:defRPr>
            </a:pPr>
            <a:r>
              <a:t>Registration and login both return a JWT.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286000" cy="1097280"/>
          </a:xfrm>
          <a:prstGeom prst="roundRect">
            <a:avLst/>
          </a:prstGeom>
          <a:solidFill>
            <a:srgbClr val="E7F2EE"/>
          </a:solidFill>
          <a:ln>
            <a:solidFill>
              <a:srgbClr val="E7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02A2A"/>
                </a:solidFill>
                <a:latin typeface="Aptos"/>
              </a:defRPr>
            </a:pPr>
            <a:r>
              <a:t>POST /auth/login</a:t>
            </a:r>
          </a:p>
          <a:p>
            <a:pPr algn="ctr">
              <a:spcAft>
                <a:spcPts val="700"/>
              </a:spcAft>
              <a:defRPr sz="1600" b="1">
                <a:solidFill>
                  <a:srgbClr val="102A2A"/>
                </a:solidFill>
                <a:latin typeface="Aptos"/>
              </a:defRPr>
            </a:pPr>
            <a:r>
              <a:t>email + password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48840"/>
            <a:ext cx="2286000" cy="1097280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50592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access_token</a:t>
            </a:r>
          </a:p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Bearer 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2286000" cy="109728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50592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Protected route</a:t>
            </a:r>
          </a:p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get_current_user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148840"/>
            <a:ext cx="2286000" cy="1097280"/>
          </a:xfrm>
          <a:prstGeom prst="round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450592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02A2A"/>
                </a:solidFill>
                <a:latin typeface="Aptos"/>
              </a:defRPr>
            </a:pPr>
            <a:r>
              <a:t>User-scoped data</a:t>
            </a:r>
          </a:p>
          <a:p>
            <a:pPr algn="ctr">
              <a:spcAft>
                <a:spcPts val="700"/>
              </a:spcAft>
              <a:defRPr sz="1600" b="1">
                <a:solidFill>
                  <a:srgbClr val="102A2A"/>
                </a:solidFill>
                <a:latin typeface="Aptos"/>
              </a:defRPr>
            </a:pPr>
            <a:r>
              <a:t>DB ownership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651760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2651760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49640" y="2651760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533"/>
                </a:solidFill>
                <a:latin typeface="Aptos"/>
              </a:defRPr>
            </a:pPr>
            <a:r>
              <a:t>  Passwords are hashed with bcrypt.</a:t>
            </a:r>
          </a:p>
          <a:p>
            <a:pPr>
              <a:spcAft>
                <a:spcPts val="1200"/>
              </a:spcAft>
              <a:defRPr sz="1600">
                <a:solidFill>
                  <a:srgbClr val="243533"/>
                </a:solidFill>
                <a:latin typeface="Aptos"/>
              </a:defRPr>
            </a:pPr>
            <a:r>
              <a:t>  The auth dependency decodes the token, resolves the user, and rejects missing or invalid users.</a:t>
            </a:r>
          </a:p>
          <a:p>
            <a:pPr>
              <a:spcAft>
                <a:spcPts val="1200"/>
              </a:spcAft>
              <a:defRPr sz="1600">
                <a:solidFill>
                  <a:srgbClr val="243533"/>
                </a:solidFill>
                <a:latin typeface="Aptos"/>
              </a:defRPr>
            </a:pPr>
            <a:r>
              <a:t>  CORS_ORIGINS limits browser origins; credentials are disabled because the UI sends the JWT explicitly.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WORKFLOW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Document extraction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783080" cy="1417320"/>
          </a:xfrm>
          <a:prstGeom prst="roundRect">
            <a:avLst/>
          </a:prstGeom>
          <a:solidFill>
            <a:srgbClr val="E7F2EE"/>
          </a:solidFill>
          <a:ln>
            <a:solidFill>
              <a:srgbClr val="E7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1635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PNG or JPEG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487168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828800"/>
            <a:ext cx="1783080" cy="1417320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011680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95728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81635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type +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487168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57800" y="1828800"/>
            <a:ext cx="1783080" cy="141732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011680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395728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81635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OCR or VLM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487168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43800" y="1828800"/>
            <a:ext cx="1783080" cy="1417320"/>
          </a:xfrm>
          <a:prstGeom prst="round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011680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395728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81635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storage +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2487168"/>
            <a:ext cx="32004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1783080" cy="1417320"/>
          </a:xfrm>
          <a:prstGeom prst="roundRect">
            <a:avLst/>
          </a:prstGeom>
          <a:solidFill>
            <a:srgbClr val="E0AB44"/>
          </a:solidFill>
          <a:ln>
            <a:solidFill>
              <a:srgbClr val="E0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011680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02A2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395728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02A2A"/>
                </a:solidFill>
                <a:latin typeface="Aptos"/>
              </a:defRPr>
            </a:pPr>
            <a:r>
              <a:t>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81635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02A2A"/>
                </a:solidFill>
                <a:latin typeface="Aptos"/>
              </a:defRPr>
            </a:pPr>
            <a:r>
              <a:t>text + 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60520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2A2A"/>
                </a:solidFill>
                <a:latin typeface="Aptos"/>
              </a:defRPr>
            </a:pPr>
            <a:r>
              <a:t>OCR endpoint: /documents/</a:t>
            </a:r>
          </a:p>
          <a:p>
            <a:pPr>
              <a:spcAft>
                <a:spcPts val="700"/>
              </a:spcAft>
              <a:defRPr sz="1900" b="1">
                <a:solidFill>
                  <a:srgbClr val="102A2A"/>
                </a:solidFill>
                <a:latin typeface="Aptos"/>
              </a:defRPr>
            </a:pPr>
            <a:r>
              <a:t>VLM endpoint: /documents/vlm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069080"/>
            <a:ext cx="6400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533"/>
                </a:solidFill>
                <a:latin typeface="Aptos"/>
              </a:defRPr>
            </a:pPr>
            <a:r>
              <a:t>Both routes require a bearer token, enforce PNG/JPEG boundaries, store the original file, and return a DocumentResponse. The OCR route additionally extracts layout and structured invoice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WORKFLOW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Multimodal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743200"/>
            <a:ext cx="1508760" cy="1005840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97180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29184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STT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3218688"/>
            <a:ext cx="256032" cy="64008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08960" y="2743200"/>
            <a:ext cx="1508760" cy="100584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297180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transcript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329184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218688"/>
            <a:ext cx="256032" cy="64008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6360" y="2743200"/>
            <a:ext cx="1508760" cy="1005840"/>
          </a:xfrm>
          <a:prstGeom prst="round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297180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image +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329184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VLM / 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218688"/>
            <a:ext cx="256032" cy="64008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0" y="2743200"/>
            <a:ext cx="1508760" cy="1005840"/>
          </a:xfrm>
          <a:prstGeom prst="roundRect">
            <a:avLst/>
          </a:prstGeom>
          <a:solidFill>
            <a:srgbClr val="E0AB44"/>
          </a:solidFill>
          <a:ln>
            <a:solidFill>
              <a:srgbClr val="E0A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297180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2A2A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29184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102A2A"/>
                </a:solidFill>
                <a:latin typeface="Aptos"/>
              </a:defRPr>
            </a:pPr>
            <a:r>
              <a:t>TTS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3218688"/>
            <a:ext cx="256032" cy="64008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60" y="2743200"/>
            <a:ext cx="1508760" cy="100584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297180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audio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329184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2011680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2A2A"/>
                </a:solidFill>
                <a:latin typeface="Aptos"/>
              </a:defRPr>
            </a:pPr>
            <a:r>
              <a:t>POST /multimodal/voice-image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297680"/>
            <a:ext cx="9784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The API creates or reuses a conversation, loads the latest context, checks Redis, runs the async service pipeline, uploads source and generated files concurrently, commits messages, and caches the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Streamlit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48056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DC684C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focused client for three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7F2EE"/>
                </a:solidFill>
                <a:latin typeface="Aptos"/>
              </a:defRPr>
            </a:pPr>
            <a:r>
              <a:t>  Extract a document with OCR or VLM</a:t>
            </a:r>
          </a:p>
          <a:p>
            <a:pPr>
              <a:spcAft>
                <a:spcPts val="1200"/>
              </a:spcAft>
              <a:defRPr sz="1600">
                <a:solidFill>
                  <a:srgbClr val="E7F2EE"/>
                </a:solidFill>
                <a:latin typeface="Aptos"/>
              </a:defRPr>
            </a:pPr>
            <a:r>
              <a:t>  Ask a voice question with an image</a:t>
            </a:r>
          </a:p>
          <a:p>
            <a:pPr>
              <a:spcAft>
                <a:spcPts val="1200"/>
              </a:spcAft>
              <a:defRPr sz="1600">
                <a:solidFill>
                  <a:srgbClr val="E7F2EE"/>
                </a:solidFill>
                <a:latin typeface="Aptos"/>
              </a:defRPr>
            </a:pPr>
            <a:r>
              <a:t>  Inspect API, Redis, and full 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554480"/>
            <a:ext cx="6400800" cy="1280160"/>
          </a:xfrm>
          <a:prstGeom prst="roundRect">
            <a:avLst/>
          </a:prstGeom>
          <a:solidFill>
            <a:srgbClr val="E7F2EE"/>
          </a:solidFill>
          <a:ln>
            <a:solidFill>
              <a:srgbClr val="E7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8288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2A2A"/>
                </a:solidFill>
                <a:latin typeface="Aptos"/>
              </a:defRPr>
            </a:pPr>
            <a:r>
              <a:t>Thin HTTP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19456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api_request() injects Authorization: Bearer &lt;token&gt; and centralizes timeout and error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3108960"/>
            <a:ext cx="6400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7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38328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87F73"/>
                </a:solidFill>
                <a:latin typeface="Aptos"/>
              </a:defRPr>
            </a:pPr>
            <a:r>
              <a:t>Useful response surfaces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749039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Extracted text | structured invoice JSON | transcript | answer | storage 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4663440"/>
            <a:ext cx="6400800" cy="1280160"/>
          </a:xfrm>
          <a:prstGeom prst="round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93776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2A2A"/>
                </a:solidFill>
                <a:latin typeface="Aptos"/>
              </a:defRPr>
            </a:pPr>
            <a:r>
              <a:t>Important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530352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02A2A"/>
                </a:solidFill>
                <a:latin typeface="Aptos"/>
              </a:defRPr>
            </a:pPr>
            <a:r>
              <a:t>The UI does not call provider SDKs. All AI credentials stay server-side.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DOCKER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Container strategy: build remotely, run simply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880360" cy="356616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GitHub 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1945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7F2EE"/>
                </a:solidFill>
                <a:latin typeface="Aptos"/>
              </a:defRPr>
            </a:pPr>
            <a:r>
              <a:t>1. checkout</a:t>
            </a:r>
          </a:p>
          <a:p>
            <a:pPr>
              <a:spcAft>
                <a:spcPts val="700"/>
              </a:spcAft>
              <a:defRPr sz="1600" b="0">
                <a:solidFill>
                  <a:srgbClr val="E7F2EE"/>
                </a:solidFill>
                <a:latin typeface="Aptos"/>
              </a:defRPr>
            </a:pPr>
            <a:r>
              <a:t>2. build API image</a:t>
            </a:r>
          </a:p>
          <a:p>
            <a:pPr>
              <a:spcAft>
                <a:spcPts val="700"/>
              </a:spcAft>
              <a:defRPr sz="1600" b="0">
                <a:solidFill>
                  <a:srgbClr val="E7F2EE"/>
                </a:solidFill>
                <a:latin typeface="Aptos"/>
              </a:defRPr>
            </a:pPr>
            <a:r>
              <a:t>3. build UI image</a:t>
            </a:r>
          </a:p>
          <a:p>
            <a:pPr>
              <a:spcAft>
                <a:spcPts val="700"/>
              </a:spcAft>
              <a:defRPr sz="1600" b="0">
                <a:solidFill>
                  <a:srgbClr val="E7F2EE"/>
                </a:solidFill>
                <a:latin typeface="Aptos"/>
              </a:defRPr>
            </a:pPr>
            <a:r>
              <a:t>4. push to Docker Hub</a:t>
            </a:r>
          </a:p>
          <a:p>
            <a:pPr>
              <a:spcAft>
                <a:spcPts val="700"/>
              </a:spcAft>
              <a:defRPr sz="1600" b="0">
                <a:solidFill>
                  <a:srgbClr val="E7F2EE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E7F2EE"/>
                </a:solidFill>
                <a:latin typeface="Aptos"/>
              </a:defRPr>
            </a:pPr>
            <a:r>
              <a:t>Tags: latest + commit SHA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45920"/>
            <a:ext cx="2880360" cy="3566160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201168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Docker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697480"/>
            <a:ext cx="21945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document-intelligence-api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document-intelligence-ui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Immutable SHA tags make rollback and diagnosis clearer.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645920"/>
            <a:ext cx="2880360" cy="3566160"/>
          </a:xfrm>
          <a:prstGeom prst="round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01168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02A2A"/>
                </a:solidFill>
                <a:latin typeface="Aptos Display"/>
              </a:defRPr>
            </a:pPr>
            <a:r>
              <a:t>EC2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697480"/>
            <a:ext cx="21945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A2A"/>
                </a:solidFill>
                <a:latin typeface="Aptos"/>
              </a:defRPr>
            </a:pPr>
            <a:r>
              <a:t>docker compose pull</a:t>
            </a:r>
          </a:p>
          <a:p>
            <a:pPr>
              <a:spcAft>
                <a:spcPts val="700"/>
              </a:spcAft>
              <a:defRPr sz="1600" b="0">
                <a:solidFill>
                  <a:srgbClr val="102A2A"/>
                </a:solidFill>
                <a:latin typeface="Aptos"/>
              </a:defRPr>
            </a:pPr>
            <a:r>
              <a:t>docker compose up -d --no-build</a:t>
            </a:r>
          </a:p>
          <a:p>
            <a:pPr>
              <a:spcAft>
                <a:spcPts val="700"/>
              </a:spcAft>
              <a:defRPr sz="1600" b="0">
                <a:solidFill>
                  <a:srgbClr val="102A2A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A2A"/>
                </a:solidFill>
                <a:latin typeface="Aptos"/>
              </a:defRPr>
            </a:pPr>
            <a:r>
              <a:t>No local or EC2 image build. Only runtime memory is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CI/CD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A2A"/>
                </a:solidFill>
                <a:latin typeface="Aptos"/>
              </a:defRPr>
            </a:pPr>
            <a:r>
              <a:t>push to 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57400"/>
            <a:ext cx="173736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96596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87F73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057400"/>
            <a:ext cx="1737360" cy="73152"/>
          </a:xfrm>
          <a:prstGeom prst="rect">
            <a:avLst/>
          </a:prstGeom>
          <a:solidFill>
            <a:srgbClr val="536461"/>
          </a:solidFill>
          <a:ln>
            <a:solidFill>
              <a:srgbClr val="536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DC684C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88920"/>
            <a:ext cx="2743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actions/checkout</a:t>
            </a:r>
          </a:p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docker/login-action</a:t>
            </a:r>
          </a:p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docker/setup-buildx-action</a:t>
            </a:r>
          </a:p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docker/build-push-action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25603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Build API + UI</a:t>
            </a:r>
          </a:p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Push latest + SHA</a:t>
            </a:r>
          </a:p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Require Docker Hub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788920"/>
            <a:ext cx="26517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SSH to EC2</a:t>
            </a:r>
          </a:p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Set IMAGE_TAG=github.sha</a:t>
            </a:r>
          </a:p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Pull exact images</a:t>
            </a:r>
          </a:p>
          <a:p>
            <a:pPr>
              <a:spcAft>
                <a:spcPts val="700"/>
              </a:spcAft>
              <a:defRPr sz="1500" b="0">
                <a:solidFill>
                  <a:srgbClr val="243533"/>
                </a:solidFill>
                <a:latin typeface="Aptos"/>
              </a:defRPr>
            </a:pPr>
            <a:r>
              <a:t>Restart with --no-build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74920"/>
            <a:ext cx="9692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A2A"/>
                </a:solidFill>
                <a:latin typeface="Aptos"/>
              </a:defRPr>
            </a:pPr>
            <a:r>
              <a:t>Required secrets: DOCKERHUB_USERNAME, DOCKERHUB_TOKEN, EC2_HOST, EC2_USER, EC2_SSH_KEY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First-time EC2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858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02A2A"/>
                </a:solidFill>
                <a:latin typeface="Aptos"/>
              </a:defRPr>
            </a:pPr>
            <a:r>
              <a:t>The host is a runtime, not a build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457200" cy="384048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21992"/>
            <a:ext cx="228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6712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2A2A"/>
                </a:solidFill>
                <a:latin typeface="Aptos"/>
              </a:defRPr>
            </a:pPr>
            <a:r>
              <a:t>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67128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Docker + Compose + 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07208"/>
            <a:ext cx="457200" cy="384048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880360"/>
            <a:ext cx="228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25496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2A2A"/>
                </a:solidFill>
                <a:latin typeface="Aptos"/>
              </a:defRPr>
            </a:pPr>
            <a:r>
              <a:t>Clone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25496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/opt/document-intelligence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65576"/>
            <a:ext cx="457200" cy="384048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38728"/>
            <a:ext cx="228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83864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2A2A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483864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production .env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23944"/>
            <a:ext cx="457200" cy="384048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97096"/>
            <a:ext cx="228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42231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2A2A"/>
                </a:solidFill>
                <a:latin typeface="Aptos"/>
              </a:defRPr>
            </a:pPr>
            <a:r>
              <a:t>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142231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docker compose pull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82312"/>
            <a:ext cx="457200" cy="384048"/>
          </a:xfrm>
          <a:prstGeom prst="round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55464"/>
            <a:ext cx="228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2A2A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80060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533"/>
                </a:solidFill>
                <a:latin typeface="Aptos"/>
              </a:defRPr>
            </a:pPr>
            <a:r>
              <a:t>up -d --no-build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2011680"/>
            <a:ext cx="3246120" cy="310896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37744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E7F2EE"/>
                </a:solidFill>
                <a:latin typeface="Aptos Display"/>
              </a:defRPr>
            </a:pPr>
            <a:r>
              <a:t>Expose carefully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063240"/>
            <a:ext cx="24688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Use a reverse proxy and HTTPS for production.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Restrict CORS_ORIGINS to the real UI origin.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Keep API keys in EC2 .env or a secrets manager.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7F73"/>
                </a:solidFill>
                <a:latin typeface="Aptos"/>
              </a:defRPr>
            </a:pPr>
            <a:r>
              <a:t>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A2A"/>
                </a:solidFill>
                <a:latin typeface="Aptos Display"/>
              </a:defRPr>
            </a:pPr>
            <a:r>
              <a:t>A practical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53646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49240" cy="4526280"/>
          </a:xfrm>
          <a:prstGeom prst="roundRect">
            <a:avLst/>
          </a:prstGeom>
          <a:solidFill>
            <a:srgbClr val="102A2A"/>
          </a:solidFill>
          <a:ln>
            <a:solidFill>
              <a:srgbClr val="1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E7F2EE"/>
                </a:solidFill>
                <a:latin typeface="Aptos Display"/>
              </a:defRPr>
            </a:pPr>
            <a:r>
              <a:t>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448056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LOCAL UI / API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.\doc-intell\Scripts\Activate.ps1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uvicorn app.main:app --reload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streamlit run streamlit_app.py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TESTS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.\doc-intell\Scripts\python.exe -m pytest -q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EC2 RUNTIME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docker compose pull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docker compose up -d --no-build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docker compose ps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curl --fail http://localhost:8000/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74920" cy="4526280"/>
          </a:xfrm>
          <a:prstGeom prst="roundRect">
            <a:avLst/>
          </a:prstGeom>
          <a:solidFill>
            <a:srgbClr val="E7F2EE"/>
          </a:solidFill>
          <a:ln>
            <a:solidFill>
              <a:srgbClr val="E7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74519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02A2A"/>
                </a:solidFill>
                <a:latin typeface="Aptos Display"/>
              </a:defRPr>
            </a:pPr>
            <a:r>
              <a:t>When something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5176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533"/>
                </a:solidFill>
                <a:latin typeface="Aptos"/>
              </a:defRPr>
            </a:pPr>
            <a:r>
              <a:t>  Check API health before debugging the UI.</a:t>
            </a:r>
          </a:p>
          <a:p>
            <a:pPr>
              <a:spcAft>
                <a:spcPts val="1200"/>
              </a:spcAft>
              <a:defRPr sz="1600">
                <a:solidFill>
                  <a:srgbClr val="243533"/>
                </a:solidFill>
                <a:latin typeface="Aptos"/>
              </a:defRPr>
            </a:pPr>
            <a:r>
              <a:t>  Inspect container logs with docker compose logs -f.</a:t>
            </a:r>
          </a:p>
          <a:p>
            <a:pPr>
              <a:spcAft>
                <a:spcPts val="1200"/>
              </a:spcAft>
              <a:defRPr sz="1600">
                <a:solidFill>
                  <a:srgbClr val="243533"/>
                </a:solidFill>
                <a:latin typeface="Aptos"/>
              </a:defRPr>
            </a:pPr>
            <a:r>
              <a:t>  Confirm .env values and CORS_ORIGINS.</a:t>
            </a:r>
          </a:p>
          <a:p>
            <a:pPr>
              <a:spcAft>
                <a:spcPts val="1200"/>
              </a:spcAft>
              <a:defRPr sz="1600">
                <a:solidFill>
                  <a:srgbClr val="243533"/>
                </a:solidFill>
                <a:latin typeface="Aptos"/>
              </a:defRPr>
            </a:pPr>
            <a:r>
              <a:t>  Check the image tag and Docker Hub visibility.</a:t>
            </a:r>
          </a:p>
          <a:p>
            <a:pPr>
              <a:spcAft>
                <a:spcPts val="1200"/>
              </a:spcAft>
              <a:defRPr sz="1600">
                <a:solidFill>
                  <a:srgbClr val="243533"/>
                </a:solidFill>
                <a:latin typeface="Aptos"/>
              </a:defRPr>
            </a:pPr>
            <a:r>
              <a:t>  Provider smoke tests are separate from mocked CI tests.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C684C"/>
          </a:solidFill>
          <a:ln>
            <a:solidFill>
              <a:srgbClr val="DC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DC684C"/>
                </a:solidFill>
                <a:latin typeface="Aptos"/>
              </a:defRPr>
            </a:pPr>
            <a: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955279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Keep intelligence in the API.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Keep interaction in the UI.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Keep builds in GitHub.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Keep runtime on EC2.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8046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E7F2EE"/>
                </a:solidFill>
                <a:latin typeface="Aptos"/>
              </a:defRPr>
            </a:pPr>
            <a:r>
              <a:t>The result is a deployable system that does not require a memory-heavy local Docker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03504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E7F2EE"/>
                </a:solidFill>
                <a:latin typeface="Aptos"/>
              </a:defRPr>
            </a:pPr>
            <a:r>
              <a:t>Document Intelligence |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